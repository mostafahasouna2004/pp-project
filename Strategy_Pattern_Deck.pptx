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002975" y="320040"/>
            <a:ext cx="914400" cy="73152"/>
          </a:xfrm>
          <a:prstGeom prst="rect">
            <a:avLst/>
          </a:prstGeom>
          <a:solidFill>
            <a:srgbClr val="8B5CF6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362895" y="731520"/>
            <a:ext cx="1554480" cy="73152"/>
          </a:xfrm>
          <a:prstGeom prst="rect">
            <a:avLst/>
          </a:prstGeom>
          <a:solidFill>
            <a:srgbClr val="06B6D4">
              <a:alpha val="6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722815" y="1143000"/>
            <a:ext cx="2194560" cy="73152"/>
          </a:xfrm>
          <a:prstGeom prst="rect">
            <a:avLst/>
          </a:prstGeom>
          <a:solidFill>
            <a:srgbClr val="1E3A8A">
              <a:alpha val="5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082735" y="1554480"/>
            <a:ext cx="2834640" cy="73152"/>
          </a:xfrm>
          <a:prstGeom prst="rect">
            <a:avLst/>
          </a:prstGeom>
          <a:solidFill>
            <a:srgbClr val="8B5CF6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442655" y="1965960"/>
            <a:ext cx="3474720" cy="73152"/>
          </a:xfrm>
          <a:prstGeom prst="rect">
            <a:avLst/>
          </a:prstGeom>
          <a:solidFill>
            <a:srgbClr val="06B6D4">
              <a:alpha val="5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002975" y="2377440"/>
            <a:ext cx="914400" cy="73152"/>
          </a:xfrm>
          <a:prstGeom prst="rect">
            <a:avLst/>
          </a:prstGeom>
          <a:solidFill>
            <a:srgbClr val="1E3A8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0362895" y="2788920"/>
            <a:ext cx="1554480" cy="73152"/>
          </a:xfrm>
          <a:prstGeom prst="rect">
            <a:avLst/>
          </a:prstGeom>
          <a:solidFill>
            <a:srgbClr val="8B5CF6">
              <a:alpha val="4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722815" y="3200400"/>
            <a:ext cx="2194560" cy="73152"/>
          </a:xfrm>
          <a:prstGeom prst="rect">
            <a:avLst/>
          </a:prstGeom>
          <a:solidFill>
            <a:srgbClr val="06B6D4">
              <a:alpha val="4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082735" y="3611880"/>
            <a:ext cx="2834640" cy="73152"/>
          </a:xfrm>
          <a:prstGeom prst="rect">
            <a:avLst/>
          </a:prstGeom>
          <a:solidFill>
            <a:srgbClr val="1E3A8A">
              <a:alpha val="4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442655" y="4023360"/>
            <a:ext cx="3474720" cy="73152"/>
          </a:xfrm>
          <a:prstGeom prst="rect">
            <a:avLst/>
          </a:prstGeom>
          <a:solidFill>
            <a:srgbClr val="8B5C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1002975" y="4434840"/>
            <a:ext cx="914400" cy="73152"/>
          </a:xfrm>
          <a:prstGeom prst="rect">
            <a:avLst/>
          </a:prstGeom>
          <a:solidFill>
            <a:srgbClr val="06B6D4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362895" y="4846320"/>
            <a:ext cx="1554480" cy="73152"/>
          </a:xfrm>
          <a:prstGeom prst="rect">
            <a:avLst/>
          </a:prstGeom>
          <a:solidFill>
            <a:srgbClr val="1E3A8A">
              <a:alpha val="3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9722815" y="5257800"/>
            <a:ext cx="2194560" cy="73152"/>
          </a:xfrm>
          <a:prstGeom prst="rect">
            <a:avLst/>
          </a:prstGeom>
          <a:solidFill>
            <a:srgbClr val="8B5CF6">
              <a:alpha val="2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9082735" y="5669280"/>
            <a:ext cx="2834640" cy="73152"/>
          </a:xfrm>
          <a:prstGeom prst="rect">
            <a:avLst/>
          </a:prstGeom>
          <a:solidFill>
            <a:srgbClr val="06B6D4">
              <a:alpha val="2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442655" y="6080760"/>
            <a:ext cx="3474720" cy="73152"/>
          </a:xfrm>
          <a:prstGeom prst="rect">
            <a:avLst/>
          </a:prstGeom>
          <a:solidFill>
            <a:srgbClr val="1E3A8A">
              <a:alpha val="2313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1002975" y="6492240"/>
            <a:ext cx="914400" cy="73152"/>
          </a:xfrm>
          <a:prstGeom prst="rect">
            <a:avLst/>
          </a:prstGeom>
          <a:solidFill>
            <a:srgbClr val="8B5CF6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0080" y="1691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DESIGN PATTERNS  ·  GANG OF FOUR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40080" y="2103120"/>
            <a:ext cx="822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40080" y="2286000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Strategy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40080" y="324612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5600"/>
              <a:buFont typeface="Georgia"/>
              <a:buNone/>
            </a:pPr>
            <a:r>
              <a:rPr b="1" i="1" lang="en-US" sz="5600" u="none" cap="none" strike="noStrike">
                <a:solidFill>
                  <a:srgbClr val="06B6D4"/>
                </a:solidFill>
                <a:latin typeface="Georgia"/>
                <a:ea typeface="Georgia"/>
                <a:cs typeface="Georgia"/>
                <a:sym typeface="Georgia"/>
              </a:rPr>
              <a:t>Design Pattern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" y="42976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Applied to a Parallel ETL Pipeline  ·  with UML Class Diagram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40080" y="5212080"/>
            <a:ext cx="2103120" cy="914400"/>
          </a:xfrm>
          <a:prstGeom prst="rect">
            <a:avLst/>
          </a:prstGeom>
          <a:solidFill>
            <a:srgbClr val="0B2550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0080" y="53035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1×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40080" y="57790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971800" y="5212080"/>
            <a:ext cx="2103120" cy="914400"/>
          </a:xfrm>
          <a:prstGeom prst="rect">
            <a:avLst/>
          </a:prstGeom>
          <a:solidFill>
            <a:srgbClr val="0B2550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2971800" y="53035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2971800" y="57790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Concrete Strategies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303520" y="5212080"/>
            <a:ext cx="2103120" cy="914400"/>
          </a:xfrm>
          <a:prstGeom prst="rect">
            <a:avLst/>
          </a:prstGeom>
          <a:solidFill>
            <a:srgbClr val="0B2550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303520" y="53035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303520" y="57790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if / else statements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Parallel Computing — Spring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522415" y="63093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Behavioural Pattern · GoF Catalog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0" y="201168"/>
            <a:ext cx="121916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1417320"/>
            <a:ext cx="553212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02920" y="1417320"/>
            <a:ext cx="73152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04088" y="158191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463040" y="1664208"/>
            <a:ext cx="502920" cy="502920"/>
          </a:xfrm>
          <a:prstGeom prst="ellipse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463040" y="16642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057400" y="16002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Design Patterns?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057400" y="19659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Motivation — recurring problems deserve named solutions.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217920" y="1417320"/>
            <a:ext cx="553212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6217920" y="1417320"/>
            <a:ext cx="73152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6419088" y="158191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178040" y="1664208"/>
            <a:ext cx="502920" cy="502920"/>
          </a:xfrm>
          <a:prstGeom prst="ellipse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178040" y="16642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772400" y="16002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Strategy Pattern — Concept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772400" y="19659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Definition, intent &amp; the three roles (GoF).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2920" y="2660904"/>
            <a:ext cx="553212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502920" y="2660904"/>
            <a:ext cx="73152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704088" y="282549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463040" y="2907792"/>
            <a:ext cx="502920" cy="502920"/>
          </a:xfrm>
          <a:prstGeom prst="ellipse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463040" y="29077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057400" y="28437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UML Class Diagram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057400" y="320954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structural view of our implementation.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217920" y="2660904"/>
            <a:ext cx="553212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217920" y="2660904"/>
            <a:ext cx="73152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419088" y="282549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178040" y="2907792"/>
            <a:ext cx="502920" cy="502920"/>
          </a:xfrm>
          <a:prstGeom prst="ellipse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7178040" y="29077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772400" y="28437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Runtime Sequence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772400" y="320954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Spring resolves &amp; invokes the right strategy.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02920" y="3904488"/>
            <a:ext cx="553212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02920" y="3904488"/>
            <a:ext cx="73152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04088" y="406908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463040" y="4151376"/>
            <a:ext cx="502920" cy="502920"/>
          </a:xfrm>
          <a:prstGeom prst="ellipse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463040" y="41513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057400" y="40873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Strategy here?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057400" y="445312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Comparison with Factory / Template / Command.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217920" y="3904488"/>
            <a:ext cx="553212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217920" y="3904488"/>
            <a:ext cx="73152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419088" y="406908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178040" y="4151376"/>
            <a:ext cx="502920" cy="502920"/>
          </a:xfrm>
          <a:prstGeom prst="ellipse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7178040" y="41513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772400" y="40873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Code Refactor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772400" y="445312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 vs after — the if/else disappears.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2920" y="5148072"/>
            <a:ext cx="553212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02920" y="5148072"/>
            <a:ext cx="73152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04088" y="5312664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463040" y="5394960"/>
            <a:ext cx="502920" cy="502920"/>
          </a:xfrm>
          <a:prstGeom prst="ellipse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463040" y="5394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057400" y="53309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Benefits &amp; SOLID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057400" y="569671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Open/Closed, testability, extensibility.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217920" y="5148072"/>
            <a:ext cx="5532120" cy="10789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217920" y="5148072"/>
            <a:ext cx="73152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419088" y="5312664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Georgia"/>
              <a:buNone/>
            </a:pPr>
            <a:r>
              <a:rPr b="1" i="1" lang="en-US" sz="2200" u="none" cap="none" strike="noStrike">
                <a:solidFill>
                  <a:srgbClr val="8B5CF6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178040" y="5394960"/>
            <a:ext cx="502920" cy="502920"/>
          </a:xfrm>
          <a:prstGeom prst="ellipse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178040" y="5394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772400" y="53309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772400" y="569671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takeaways &amp; next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Strategy Design Pattern  |  Big Data ETL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201168"/>
            <a:ext cx="121916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SECTION 01  ·  MOTIVATION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Why Design Patterns?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02920" y="141732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design pattern is a named, battle-tested solution to a problem that recurs across software systems. It is not a finished piece of code — it's a vocabulary that lets developers describe intent precisely and apply proven structures consistently.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02920" y="2468880"/>
            <a:ext cx="553212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02920" y="2468880"/>
            <a:ext cx="73152" cy="1783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554480" y="267004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Shared vocabulary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554480" y="310896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 words capture an idea that would otherwise need two paragraphs of explanation.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217920" y="2468880"/>
            <a:ext cx="553212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217920" y="2468880"/>
            <a:ext cx="73152" cy="1783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446520" y="26974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446520" y="2697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◈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269480" y="267004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Proven structure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269480" y="310896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pattern has been tested in real systems and refined over decades.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02920" y="4434840"/>
            <a:ext cx="553212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02920" y="4434840"/>
            <a:ext cx="73152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31520" y="4663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31520" y="4663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554480" y="463600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/ Closed by design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554480" y="507492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Patterns push designs toward extension by addition, not by modification.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217920" y="4434840"/>
            <a:ext cx="553212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217920" y="4434840"/>
            <a:ext cx="73152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446520" y="4663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446520" y="4663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269480" y="463600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269480" y="507492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Smaller, single-responsibility units are easier to mock, isolate and verify.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Strategy Design Pattern  |  Big Data ETL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0" y="201168"/>
            <a:ext cx="121916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SECTION 02  ·  GOF · BEHAVIOURAL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Strategy Pattern — The Concept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02920" y="1417320"/>
            <a:ext cx="1120140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502920" y="1417320"/>
            <a:ext cx="73152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77240" y="17830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691640" y="1600200"/>
            <a:ext cx="9829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INTENT  ·  GANG OF FOUR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691640" y="1920240"/>
            <a:ext cx="9829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"Define a family of algorithms, encapsulate each one, and make them interchangeable. Strategy lets the algorithm vary independently from clients that use it."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02920" y="301752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THREE ROLES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02920" y="3383280"/>
            <a:ext cx="3657600" cy="2788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02920" y="3383280"/>
            <a:ext cx="73152" cy="2788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76072" y="3383280"/>
            <a:ext cx="3584448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76072" y="3429000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«interface»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76072" y="3611880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77240" y="402336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common contract every algorithm must implement. Declares the operation the Context will invoke.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77240" y="5303520"/>
            <a:ext cx="3108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777240" y="53949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IN OUR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77240" y="5623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PreprocessingStrategy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283964" y="3383280"/>
            <a:ext cx="3657600" cy="2788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4283964" y="3383280"/>
            <a:ext cx="73152" cy="2788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357116" y="3383280"/>
            <a:ext cx="3584448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357116" y="3429000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357116" y="3611880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ConcreteStrategy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558284" y="402336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algorithm in its own class. New behaviours arrive as new classes — never as if/else branches.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58284" y="5303520"/>
            <a:ext cx="3108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558284" y="53949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IN OUR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58284" y="5623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SingleThreadPreprocessingStrategy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MultiThreadPreprocessingStrategy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065008" y="3383280"/>
            <a:ext cx="3657600" cy="2788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065008" y="3383280"/>
            <a:ext cx="73152" cy="2788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8138160" y="3383280"/>
            <a:ext cx="358444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8138160" y="3429000"/>
            <a:ext cx="35844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138160" y="3611880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339328" y="402336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Holds a reference to a Strategy and delegates work to it. It is unaware of which concrete algorithm runs.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339328" y="5303520"/>
            <a:ext cx="3108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8339328" y="539496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IN OUR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339328" y="5623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EtlService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Strategy Design Pattern  |  Big Data ETL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0" y="201168"/>
            <a:ext cx="121916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SECTION 03  ·  STRATEGY APPLIED IN OUR CODEBASE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UML Class Diagram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02920" y="1417320"/>
            <a:ext cx="7909560" cy="4937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40080" y="1508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811780" y="1828800"/>
            <a:ext cx="3291840" cy="96012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2811780" y="1828800"/>
            <a:ext cx="329184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2811780" y="1874520"/>
            <a:ext cx="3291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«context»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2811780" y="208483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811780" y="2395728"/>
            <a:ext cx="3291840" cy="165141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2921508" y="2450592"/>
            <a:ext cx="3072384" cy="73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- strategies: Map&lt;String, PreprocessingStrategy&gt;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- etlBatchConfig: EtlBatchConfig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811780" y="2560869"/>
            <a:ext cx="3291840" cy="22805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2921508" y="2615733"/>
            <a:ext cx="3072384" cy="136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+ runPipeline(stream, fileName, multi): ProcessingJob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2628900" y="3291840"/>
            <a:ext cx="3657600" cy="96012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2628900" y="3291840"/>
            <a:ext cx="365760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2628900" y="3337560"/>
            <a:ext cx="3657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«interface»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628900" y="35478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628900" y="3858768"/>
            <a:ext cx="3657600" cy="16459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2628900" y="4023360"/>
            <a:ext cx="365760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2738628" y="4078224"/>
            <a:ext cx="343814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+ getMode(): 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+ preprocess(stream, batchId): PreprocessingResult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31520" y="4892040"/>
            <a:ext cx="3383280" cy="123444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31520" y="4892040"/>
            <a:ext cx="3383280" cy="5669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731520" y="4937760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«concrete strategy»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31520" y="514807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SingleThreadPreprocessingStrategy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31520" y="5458968"/>
            <a:ext cx="3383280" cy="280355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41248" y="5513832"/>
            <a:ext cx="3163824" cy="18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@Component("SINGLE_THREAD")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731520" y="5739323"/>
            <a:ext cx="3383280" cy="38715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841248" y="5794187"/>
            <a:ext cx="3163824" cy="2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+ getMode(): 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+ preprocess(stream, batchId): PreprocessingResult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800600" y="4892040"/>
            <a:ext cx="3383280" cy="123444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800600" y="4892040"/>
            <a:ext cx="338328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800600" y="4937760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«concrete strategy»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800600" y="514807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MultiThreadPreprocessingStrategy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800600" y="5458968"/>
            <a:ext cx="3383280" cy="280355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4910328" y="5513832"/>
            <a:ext cx="3163824" cy="18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@Component("MULTI_THREAD")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800600" y="5739323"/>
            <a:ext cx="3383280" cy="38715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910328" y="5794187"/>
            <a:ext cx="3163824" cy="2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+ getMode(): 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+ preprocess(stream, batchId): PreprocessingResult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7"/>
          <p:cNvCxnSpPr/>
          <p:nvPr/>
        </p:nvCxnSpPr>
        <p:spPr>
          <a:xfrm>
            <a:off x="4457700" y="2788920"/>
            <a:ext cx="0" cy="502920"/>
          </a:xfrm>
          <a:prstGeom prst="straightConnector1">
            <a:avLst/>
          </a:prstGeom>
          <a:noFill/>
          <a:ln cap="flat" cmpd="sng" w="15875">
            <a:solidFill>
              <a:srgbClr val="F59E0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46" name="Google Shape;246;p7"/>
          <p:cNvSpPr/>
          <p:nvPr/>
        </p:nvSpPr>
        <p:spPr>
          <a:xfrm>
            <a:off x="4549140" y="2880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uses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909060" y="30358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1..*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7"/>
          <p:cNvCxnSpPr/>
          <p:nvPr/>
        </p:nvCxnSpPr>
        <p:spPr>
          <a:xfrm flipH="1" rot="10800000">
            <a:off x="2423160" y="4251960"/>
            <a:ext cx="1668780" cy="64008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9" name="Google Shape;249;p7"/>
          <p:cNvCxnSpPr/>
          <p:nvPr/>
        </p:nvCxnSpPr>
        <p:spPr>
          <a:xfrm rot="10800000">
            <a:off x="4823460" y="4251960"/>
            <a:ext cx="1668780" cy="640080"/>
          </a:xfrm>
          <a:prstGeom prst="straightConnector1">
            <a:avLst/>
          </a:prstGeom>
          <a:noFill/>
          <a:ln cap="flat" cmpd="sng" w="19050">
            <a:solidFill>
              <a:srgbClr val="10B98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50" name="Google Shape;250;p7"/>
          <p:cNvSpPr/>
          <p:nvPr/>
        </p:nvSpPr>
        <p:spPr>
          <a:xfrm>
            <a:off x="4046220" y="46360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«realize»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549640" y="1417320"/>
            <a:ext cx="3154680" cy="4937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8549640" y="1417320"/>
            <a:ext cx="73152" cy="4937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8778240" y="1664208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8778240" y="16642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9464040" y="1691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B3A"/>
                </a:solidFill>
                <a:latin typeface="Calibri"/>
                <a:ea typeface="Calibri"/>
                <a:cs typeface="Calibri"/>
                <a:sym typeface="Calibri"/>
              </a:rPr>
              <a:t>Diagram Legend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823960" y="2395728"/>
            <a:ext cx="64008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8823960" y="2432304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«…»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555480" y="235915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«stereotype»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555480" y="2560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 marker — context, interface, concrete strategy.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8823960" y="3172968"/>
            <a:ext cx="64008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8823960" y="3282696"/>
            <a:ext cx="640080" cy="10058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8823960" y="3383280"/>
            <a:ext cx="640080" cy="1097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9555480" y="31363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Box compartments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9555480" y="33375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Header (name) · Attributes · Operations.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7"/>
          <p:cNvCxnSpPr/>
          <p:nvPr/>
        </p:nvCxnSpPr>
        <p:spPr>
          <a:xfrm>
            <a:off x="8823960" y="4114800"/>
            <a:ext cx="640080" cy="0"/>
          </a:xfrm>
          <a:prstGeom prst="straightConnector1">
            <a:avLst/>
          </a:prstGeom>
          <a:noFill/>
          <a:ln cap="flat" cmpd="sng" w="17775">
            <a:solidFill>
              <a:srgbClr val="06B6D4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66" name="Google Shape;266;p7"/>
          <p:cNvSpPr/>
          <p:nvPr/>
        </p:nvSpPr>
        <p:spPr>
          <a:xfrm>
            <a:off x="9555480" y="39136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Dashed → triangle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555480" y="4114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Realization (implements an interface).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8823960" y="4892040"/>
            <a:ext cx="640080" cy="0"/>
          </a:xfrm>
          <a:prstGeom prst="straightConnector1">
            <a:avLst/>
          </a:prstGeom>
          <a:noFill/>
          <a:ln cap="flat" cmpd="sng" w="15875">
            <a:solidFill>
              <a:srgbClr val="F59E0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69" name="Google Shape;269;p7"/>
          <p:cNvSpPr/>
          <p:nvPr/>
        </p:nvSpPr>
        <p:spPr>
          <a:xfrm>
            <a:off x="9555480" y="469087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Dashed → arrow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9555480" y="48920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Dependency — Context uses Strategy.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8823960" y="550468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+   -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9555480" y="54681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 /  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9555480" y="5669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 public · - private member visibility.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Strategy Design Pattern  |  Big Data ETL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0" y="201168"/>
            <a:ext cx="121916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SECTION 04  ·  FROM REQUEST TO ALGORITHM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Runtime Sequence — How Spring Resolves 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02920" y="1417320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 startup, Spring scans every class annotated @Component that implements PreprocessingStrategy and injects them all into EtlService as a Map keyed by bean name. At runtime, the orchestrator picks the right one with a single lookup.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5720" y="2331720"/>
            <a:ext cx="192024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5720" y="2350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8"/>
          <p:cNvCxnSpPr/>
          <p:nvPr/>
        </p:nvCxnSpPr>
        <p:spPr>
          <a:xfrm>
            <a:off x="1005840" y="2834640"/>
            <a:ext cx="0" cy="3154680"/>
          </a:xfrm>
          <a:prstGeom prst="straightConnector1">
            <a:avLst/>
          </a:prstGeom>
          <a:noFill/>
          <a:ln cap="flat" cmpd="sng" w="9525">
            <a:solidFill>
              <a:srgbClr val="06B6D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1" name="Google Shape;291;p8"/>
          <p:cNvSpPr/>
          <p:nvPr/>
        </p:nvSpPr>
        <p:spPr>
          <a:xfrm>
            <a:off x="2880360" y="2331720"/>
            <a:ext cx="19202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2880360" y="2350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(Context)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8"/>
          <p:cNvCxnSpPr/>
          <p:nvPr/>
        </p:nvCxnSpPr>
        <p:spPr>
          <a:xfrm>
            <a:off x="3840480" y="2834640"/>
            <a:ext cx="0" cy="3154680"/>
          </a:xfrm>
          <a:prstGeom prst="straightConnector1">
            <a:avLst/>
          </a:prstGeom>
          <a:noFill/>
          <a:ln cap="flat" cmpd="sng" w="9525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4" name="Google Shape;294;p8"/>
          <p:cNvSpPr/>
          <p:nvPr/>
        </p:nvSpPr>
        <p:spPr>
          <a:xfrm>
            <a:off x="5715000" y="2331720"/>
            <a:ext cx="192024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5715000" y="2350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DI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8"/>
          <p:cNvCxnSpPr/>
          <p:nvPr/>
        </p:nvCxnSpPr>
        <p:spPr>
          <a:xfrm>
            <a:off x="6675120" y="2834640"/>
            <a:ext cx="0" cy="3154680"/>
          </a:xfrm>
          <a:prstGeom prst="straightConnector1">
            <a:avLst/>
          </a:prstGeom>
          <a:noFill/>
          <a:ln cap="flat" cmpd="sng" w="9525">
            <a:solidFill>
              <a:srgbClr val="8B5CF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7" name="Google Shape;297;p8"/>
          <p:cNvSpPr/>
          <p:nvPr/>
        </p:nvSpPr>
        <p:spPr>
          <a:xfrm>
            <a:off x="8686800" y="2331720"/>
            <a:ext cx="19202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8686800" y="2350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ConcreteStrategy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8"/>
          <p:cNvCxnSpPr/>
          <p:nvPr/>
        </p:nvCxnSpPr>
        <p:spPr>
          <a:xfrm>
            <a:off x="9646920" y="2834640"/>
            <a:ext cx="0" cy="315468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0" name="Google Shape;300;p8"/>
          <p:cNvCxnSpPr/>
          <p:nvPr/>
        </p:nvCxnSpPr>
        <p:spPr>
          <a:xfrm>
            <a:off x="1005840" y="2971800"/>
            <a:ext cx="2834640" cy="0"/>
          </a:xfrm>
          <a:prstGeom prst="straightConnector1">
            <a:avLst/>
          </a:prstGeom>
          <a:noFill/>
          <a:ln cap="flat" cmpd="sng" w="15875">
            <a:solidFill>
              <a:srgbClr val="06B6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1" name="Google Shape;301;p8"/>
          <p:cNvSpPr/>
          <p:nvPr/>
        </p:nvSpPr>
        <p:spPr>
          <a:xfrm>
            <a:off x="1097280" y="267919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1. runPipeline(csv, multi=true)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8"/>
          <p:cNvCxnSpPr/>
          <p:nvPr/>
        </p:nvCxnSpPr>
        <p:spPr>
          <a:xfrm>
            <a:off x="3840480" y="3520440"/>
            <a:ext cx="2834640" cy="0"/>
          </a:xfrm>
          <a:prstGeom prst="straightConnector1">
            <a:avLst/>
          </a:prstGeom>
          <a:noFill/>
          <a:ln cap="flat" cmpd="sng" w="15875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3" name="Google Shape;303;p8"/>
          <p:cNvSpPr/>
          <p:nvPr/>
        </p:nvSpPr>
        <p:spPr>
          <a:xfrm>
            <a:off x="3931920" y="322783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2. on construction: Map&lt;String, Strategy&gt; injected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8"/>
          <p:cNvCxnSpPr/>
          <p:nvPr/>
        </p:nvCxnSpPr>
        <p:spPr>
          <a:xfrm rot="10800000">
            <a:off x="3840480" y="4069080"/>
            <a:ext cx="2834640" cy="0"/>
          </a:xfrm>
          <a:prstGeom prst="straightConnector1">
            <a:avLst/>
          </a:prstGeom>
          <a:noFill/>
          <a:ln cap="flat" cmpd="sng" w="15875">
            <a:solidFill>
              <a:srgbClr val="64748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05" name="Google Shape;305;p8"/>
          <p:cNvSpPr/>
          <p:nvPr/>
        </p:nvSpPr>
        <p:spPr>
          <a:xfrm>
            <a:off x="3931920" y="3776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3. returns 2 beans (SINGLE_THREAD, MULTI_THREAD)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840480" y="4617720"/>
            <a:ext cx="50292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4434840" y="46177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4. mode = "MULTI_THREAD"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8"/>
          <p:cNvCxnSpPr/>
          <p:nvPr/>
        </p:nvCxnSpPr>
        <p:spPr>
          <a:xfrm>
            <a:off x="3840480" y="5074920"/>
            <a:ext cx="5806440" cy="0"/>
          </a:xfrm>
          <a:prstGeom prst="straightConnector1">
            <a:avLst/>
          </a:prstGeom>
          <a:noFill/>
          <a:ln cap="flat" cmpd="sng" w="15875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p8"/>
          <p:cNvSpPr/>
          <p:nvPr/>
        </p:nvSpPr>
        <p:spPr>
          <a:xfrm>
            <a:off x="3931920" y="4782312"/>
            <a:ext cx="5623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5. strategies.get(mode).preprocess(stream, batchId)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8"/>
          <p:cNvCxnSpPr/>
          <p:nvPr/>
        </p:nvCxnSpPr>
        <p:spPr>
          <a:xfrm rot="10800000">
            <a:off x="3840480" y="5623560"/>
            <a:ext cx="5806440" cy="0"/>
          </a:xfrm>
          <a:prstGeom prst="straightConnector1">
            <a:avLst/>
          </a:prstGeom>
          <a:noFill/>
          <a:ln cap="flat" cmpd="sng" w="15875">
            <a:solidFill>
              <a:srgbClr val="64748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11" name="Google Shape;311;p8"/>
          <p:cNvSpPr/>
          <p:nvPr/>
        </p:nvSpPr>
        <p:spPr>
          <a:xfrm>
            <a:off x="3931920" y="5330952"/>
            <a:ext cx="5623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6. PreprocessingResult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Strategy Design Pattern  |  Big Data ETL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0" y="201168"/>
            <a:ext cx="121916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SECTION 05  ·  PATTERN SELECTION RATIONALE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Why Strategy — and Not Another Pattern?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02920" y="1417320"/>
            <a:ext cx="11201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smell was a single if/else inside EtlService that branched on processing mode. Strategy fits that shape exactly: a family of algorithms (single-thread, multi-thread, future fork-join, reactive, …) that the orchestrator must pick between at runtime — without knowing how each one works.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02920" y="2468880"/>
            <a:ext cx="11201400" cy="3703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502920" y="2468880"/>
            <a:ext cx="73152" cy="3703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777240" y="2606040"/>
            <a:ext cx="10744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PATTERNS CONSIDERED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777240" y="29718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788920" y="2971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943600" y="29718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we passed (or chose)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10012680" y="29718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777240" y="3310128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777240" y="34747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Factory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2788920" y="34747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Decides which class to instantiate.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943600" y="34747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Creates objects but does not model swappable algorithms — only object creation.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0012680" y="3566160"/>
            <a:ext cx="13716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10012680" y="359359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Partial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777240" y="39776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Template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2788920" y="39776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Defines an algorithm skeleton, subclasses fill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943600" y="39776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Forces inheritance — we wanted composition, no shared base for our two modes.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0012680" y="4069080"/>
            <a:ext cx="137160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10012680" y="409651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777240" y="44805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2788920" y="44805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Encapsulates a request as an object.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943600" y="44805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Adds queueing/undo semantics we don't need — overkill for picking one of N algorithms.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10012680" y="4572000"/>
            <a:ext cx="137160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10012680" y="45994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777240" y="49834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2788920" y="49834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Object changes behaviour as state changes.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943600" y="49834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Our orchestrator picks an algorithm — it doesn't transition between behavioural states.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10012680" y="5074920"/>
            <a:ext cx="137160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10012680" y="510235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777240" y="54864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2788920" y="5486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Family of algorithms, one interface, swap at runtime.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943600" y="54864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Exactly the shape of our problem: pluggable preprocessing modes selected at runtime.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10012680" y="5577840"/>
            <a:ext cx="13716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10012680" y="560527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Chosen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Strategy Design Pattern  |  Big Data ETL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0" y="201168"/>
            <a:ext cx="121916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SECTION 06  ·  STRATEGY PATTERN APPLIED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Code Refactor — Before vs After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02920" y="1417320"/>
            <a:ext cx="11201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business behaviour, expressed without conditionals. The orchestrator becomes a one-line lookup; new modes plug in without ever touching it again.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02920" y="2194560"/>
            <a:ext cx="5532120" cy="36576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502920" y="2194560"/>
            <a:ext cx="73152" cy="36576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731520" y="233172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BEFORE  ·  EtlService.java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31520" y="2697480"/>
            <a:ext cx="5166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private final ParallelPreprocessingService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preprocessingService;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if (multiThreaded)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prepResult = preprocessingService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.processMultiThreaded(stream, batchId);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prepResult = preprocessingService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.processSingleThreaded(stream, batchId);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731520" y="5001768"/>
            <a:ext cx="128016" cy="12801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960120" y="493776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Conditional grows with every new mode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731520" y="5257800"/>
            <a:ext cx="128016" cy="12801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960120" y="5193792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Orchestrator knows each algorithm's 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731520" y="5513832"/>
            <a:ext cx="128016" cy="12801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960120" y="5449824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Hard to test modes in isolation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6172200" y="2194560"/>
            <a:ext cx="5532120" cy="3657600"/>
          </a:xfrm>
          <a:prstGeom prst="rect">
            <a:avLst/>
          </a:prstGeom>
          <a:solidFill>
            <a:srgbClr val="0B2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6172200" y="2194560"/>
            <a:ext cx="73152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6400800" y="233172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AFTER  ·  EtlService.java + strategy/*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400800" y="2697480"/>
            <a:ext cx="5166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private final Map&lt;String, PreprocessingStrategy&gt;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strategies;  // injected by Spring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String mode = multiThreaded 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"MULTI_THREAD" : "SINGLE_THREAD";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PreprocessingStrategy s = strategies.get(mode);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prepResult = s.preprocess(stream, batchId);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6400800" y="5001768"/>
            <a:ext cx="128016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6629400" y="4937760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conditionals — single map lookup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6400800" y="5257800"/>
            <a:ext cx="128016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6629400" y="5193792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Open/Closed — new modes via @Component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6400800" y="5513832"/>
            <a:ext cx="128016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6629400" y="5449824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Each strategy is its own testable bean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02920" y="5989320"/>
            <a:ext cx="112014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502920" y="598932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685800" y="610819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FILES CHANGED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2240280" y="6108192"/>
            <a:ext cx="9326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+  PreprocessingStrategy.java   ·   +  SingleThreadPreprocessingStrategy.java   ·   +  MultiThreadPreprocessingStrategy.java   ·   ~  EtlService.java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Strategy Design Pattern  |  Big Data ETL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0" y="201168"/>
            <a:ext cx="1219169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SECTION 07  ·  WHAT WE GAINED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B3A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1B3A"/>
                </a:solidFill>
                <a:latin typeface="Georgia"/>
                <a:ea typeface="Georgia"/>
                <a:cs typeface="Georgia"/>
                <a:sym typeface="Georgia"/>
              </a:rPr>
              <a:t>Benefits &amp; SOLID Principles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502920" y="1417320"/>
            <a:ext cx="2249424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502920" y="1417320"/>
            <a:ext cx="73152" cy="1965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640080" y="1581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40080" y="242316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 Responsibility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640080" y="2743200"/>
            <a:ext cx="19751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strategy does one thing — preprocess CSV records using a specific algorithm.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2798064" y="1417320"/>
            <a:ext cx="2249424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2798064" y="1417320"/>
            <a:ext cx="73152" cy="1965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2935224" y="1581912"/>
            <a:ext cx="77724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2935224" y="1581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2935224" y="242316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/ Closed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935224" y="2743200"/>
            <a:ext cx="19751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EtlService is closed for modification — new modes are added by addition, not edit.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5093208" y="1417320"/>
            <a:ext cx="2249424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5093208" y="1417320"/>
            <a:ext cx="7315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5230368" y="1581912"/>
            <a:ext cx="7772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5230368" y="1581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5230368" y="242316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Liskov Substitution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5230368" y="2743200"/>
            <a:ext cx="19751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Any concrete strategy can replace another behind the PreprocessingStrategy interface.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7388352" y="1417320"/>
            <a:ext cx="2249424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7388352" y="1417320"/>
            <a:ext cx="73152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7525512" y="1581912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7525512" y="1581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7525512" y="242316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Interface Segregation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7525512" y="2743200"/>
            <a:ext cx="19751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PreprocessingStrategy is small — only the methods clients actually need.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9683496" y="1417320"/>
            <a:ext cx="2249424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9683496" y="141732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9820656" y="1581912"/>
            <a:ext cx="77724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9820656" y="1581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9820656" y="242316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Dependency Inversion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9820656" y="2743200"/>
            <a:ext cx="19751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EtlService depends on the abstraction (Strategy), not on concrete implementations.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502920" y="3657600"/>
            <a:ext cx="553212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502920" y="3657600"/>
            <a:ext cx="73152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731520" y="3950208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731520" y="395020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554480" y="388620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Pluggable extension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554480" y="4251960"/>
            <a:ext cx="4343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new mode = one new @Component class. Zero edits to EtlService.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6217920" y="3657600"/>
            <a:ext cx="553212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6217920" y="365760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6446520" y="3950208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6446520" y="395020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7269480" y="388620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Independent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7269480" y="4251960"/>
            <a:ext cx="4343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strategy is its own Spring bean — easy to mock &amp; verify.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502920" y="5102352"/>
            <a:ext cx="553212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502920" y="5102352"/>
            <a:ext cx="73152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731520" y="539496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731520" y="5394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≡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1554480" y="533095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Cleaner orchestration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1554480" y="5696712"/>
            <a:ext cx="4343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EtlService no longer branches on mode — its body shrinks dramatically.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6217920" y="5102352"/>
            <a:ext cx="553212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6217920" y="5102352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6446520" y="53949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6446520" y="5394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7269480" y="533095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Future-proof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7269480" y="5696712"/>
            <a:ext cx="4343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Adding fork-join, reactive or distributed modes is now trivial.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Strategy Design Pattern  |  Big Data ETL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11094415" y="6565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"/>
          <p:cNvSpPr/>
          <p:nvPr/>
        </p:nvSpPr>
        <p:spPr>
          <a:xfrm>
            <a:off x="11094415" y="365760"/>
            <a:ext cx="822960" cy="54864"/>
          </a:xfrm>
          <a:prstGeom prst="rect">
            <a:avLst/>
          </a:prstGeom>
          <a:solidFill>
            <a:srgbClr val="8B5CF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10362895" y="822960"/>
            <a:ext cx="1554480" cy="54864"/>
          </a:xfrm>
          <a:prstGeom prst="rect">
            <a:avLst/>
          </a:prstGeom>
          <a:solidFill>
            <a:srgbClr val="06B6D4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9631375" y="1280160"/>
            <a:ext cx="2286000" cy="54864"/>
          </a:xfrm>
          <a:prstGeom prst="rect">
            <a:avLst/>
          </a:prstGeom>
          <a:solidFill>
            <a:srgbClr val="1E3A8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8899855" y="1737360"/>
            <a:ext cx="3017520" cy="54864"/>
          </a:xfrm>
          <a:prstGeom prst="rect">
            <a:avLst/>
          </a:prstGeom>
          <a:solidFill>
            <a:srgbClr val="8B5CF6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11094415" y="2194560"/>
            <a:ext cx="822960" cy="54864"/>
          </a:xfrm>
          <a:prstGeom prst="rect">
            <a:avLst/>
          </a:prstGeom>
          <a:solidFill>
            <a:srgbClr val="06B6D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10362895" y="2651760"/>
            <a:ext cx="1554480" cy="54864"/>
          </a:xfrm>
          <a:prstGeom prst="rect">
            <a:avLst/>
          </a:prstGeom>
          <a:solidFill>
            <a:srgbClr val="1E3A8A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9631375" y="3108960"/>
            <a:ext cx="2286000" cy="54864"/>
          </a:xfrm>
          <a:prstGeom prst="rect">
            <a:avLst/>
          </a:prstGeom>
          <a:solidFill>
            <a:srgbClr val="8B5CF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8899855" y="3566160"/>
            <a:ext cx="3017520" cy="54864"/>
          </a:xfrm>
          <a:prstGeom prst="rect">
            <a:avLst/>
          </a:prstGeom>
          <a:solidFill>
            <a:srgbClr val="06B6D4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11094415" y="4023360"/>
            <a:ext cx="822960" cy="54864"/>
          </a:xfrm>
          <a:prstGeom prst="rect">
            <a:avLst/>
          </a:prstGeom>
          <a:solidFill>
            <a:srgbClr val="1E3A8A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10362895" y="4480560"/>
            <a:ext cx="1554480" cy="54864"/>
          </a:xfrm>
          <a:prstGeom prst="rect">
            <a:avLst/>
          </a:prstGeom>
          <a:solidFill>
            <a:srgbClr val="8B5CF6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9631375" y="4937760"/>
            <a:ext cx="2286000" cy="54864"/>
          </a:xfrm>
          <a:prstGeom prst="rect">
            <a:avLst/>
          </a:prstGeom>
          <a:solidFill>
            <a:srgbClr val="06B6D4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8899855" y="5394960"/>
            <a:ext cx="3017520" cy="54864"/>
          </a:xfrm>
          <a:prstGeom prst="rect">
            <a:avLst/>
          </a:prstGeom>
          <a:solidFill>
            <a:srgbClr val="1E3A8A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11094415" y="5852160"/>
            <a:ext cx="822960" cy="54864"/>
          </a:xfrm>
          <a:prstGeom prst="rect">
            <a:avLst/>
          </a:prstGeom>
          <a:solidFill>
            <a:srgbClr val="8B5CF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10362895" y="6309360"/>
            <a:ext cx="1554480" cy="54864"/>
          </a:xfrm>
          <a:prstGeom prst="rect">
            <a:avLst/>
          </a:prstGeom>
          <a:solidFill>
            <a:srgbClr val="06B6D4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640080" y="640080"/>
            <a:ext cx="822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640080" y="2148840"/>
            <a:ext cx="5349240" cy="1417320"/>
          </a:xfrm>
          <a:prstGeom prst="rect">
            <a:avLst/>
          </a:prstGeom>
          <a:solidFill>
            <a:srgbClr val="0B2550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640080" y="2148840"/>
            <a:ext cx="53492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914400" y="2441448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914400" y="24414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1737360" y="24048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 gives names to algorithms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1737360" y="2788920"/>
            <a:ext cx="4160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PreprocessingStrategy turns raw if/else branching into a first-class concept.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6217920" y="2148840"/>
            <a:ext cx="5349240" cy="1417320"/>
          </a:xfrm>
          <a:prstGeom prst="rect">
            <a:avLst/>
          </a:prstGeom>
          <a:solidFill>
            <a:srgbClr val="0B2550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6217920" y="2148840"/>
            <a:ext cx="534924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6492240" y="2441448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6492240" y="24414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7315200" y="24048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+ Strategy = zero plumbing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7315200" y="2788920"/>
            <a:ext cx="4160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Map&lt;String, PreprocessingStrategy&gt; auto-injection makes lookup trivial.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40080" y="3730752"/>
            <a:ext cx="5349240" cy="1417320"/>
          </a:xfrm>
          <a:prstGeom prst="rect">
            <a:avLst/>
          </a:prstGeom>
          <a:solidFill>
            <a:srgbClr val="0B2550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640080" y="3730752"/>
            <a:ext cx="53492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1737360" y="3986784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/ Closed for free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1737360" y="4370832"/>
            <a:ext cx="4160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New modes drop in as @Components — EtlService never changes again.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6217920" y="3730752"/>
            <a:ext cx="5349240" cy="1417320"/>
          </a:xfrm>
          <a:prstGeom prst="rect">
            <a:avLst/>
          </a:prstGeom>
          <a:solidFill>
            <a:srgbClr val="0B255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6217920" y="3730752"/>
            <a:ext cx="53492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6492240" y="40233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7315200" y="3986784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Production-grade outcome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7315200" y="4370832"/>
            <a:ext cx="4160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Cleaner orchestrator, testable strategies, and a clear path to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640080" y="5349240"/>
            <a:ext cx="822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400"/>
              <a:buFont typeface="Georgia"/>
              <a:buNone/>
            </a:pPr>
            <a:r>
              <a:rPr b="1" i="1" lang="en-US" sz="3400" u="none" cap="none" strike="noStrike">
                <a:solidFill>
                  <a:srgbClr val="06B6D4"/>
                </a:solidFill>
                <a:latin typeface="Georgia"/>
                <a:ea typeface="Georgia"/>
                <a:cs typeface="Georgia"/>
                <a:sym typeface="Georgia"/>
              </a:rPr>
              <a:t>Thank you.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welcome.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